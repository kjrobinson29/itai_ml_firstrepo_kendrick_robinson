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10" autoAdjust="0"/>
  </p:normalViewPr>
  <p:slideViewPr>
    <p:cSldViewPr>
      <p:cViewPr varScale="1">
        <p:scale>
          <a:sx n="87" d="100"/>
          <a:sy n="87" d="100"/>
        </p:scale>
        <p:origin x="3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7039"/>
            <a:ext cx="16256000" cy="9144000"/>
          </a:xfrm>
          <a:prstGeom prst="rect">
            <a:avLst/>
          </a:prstGeom>
          <a:solidFill>
            <a:srgbClr val="073E36">
              <a:alpha val="69804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31496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 dirty="0">
                <a:solidFill>
                  <a:srgbClr val="FFFFFF"/>
                </a:solidFill>
                <a:latin typeface="&quot;Yeseva One&quot;"/>
              </a:rPr>
              <a:t>End-to-End ML Pipeline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876300" y="41783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From preprocessing to model tuning - comprehensive evaluation through metrics, fairness, and deployment perspectives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5219700"/>
            <a:ext cx="14490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2400" b="1" dirty="0">
                <a:solidFill>
                  <a:srgbClr val="FFFFFF"/>
                </a:solidFill>
                <a:latin typeface="&quot;Yeseva One&quot;"/>
              </a:rPr>
              <a:t>by Kendrick Robinson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76300" y="5676900"/>
            <a:ext cx="14490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Introduction to Machine Learning - Final Exam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6997700" y="927100"/>
            <a:ext cx="8077200" cy="726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6997700" y="927100"/>
            <a:ext cx="8077200" cy="1308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997700" y="2679700"/>
            <a:ext cx="80772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997700" y="4787900"/>
            <a:ext cx="80772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997700" y="6883400"/>
            <a:ext cx="8077200" cy="1308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81100" y="4140200"/>
            <a:ext cx="51816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4800" b="1">
                <a:solidFill>
                  <a:srgbClr val="FFFFFF"/>
                </a:solidFill>
                <a:latin typeface="&quot;Yeseva One&quot;"/>
              </a:rPr>
              <a:t>Contents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997700" y="927100"/>
            <a:ext cx="807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01. Pipeline Overview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97700" y="2679700"/>
            <a:ext cx="807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02. GridSearch Results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97700" y="4787900"/>
            <a:ext cx="807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03. Model Evaluation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997700" y="6883400"/>
            <a:ext cx="807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04. Ethics &amp; Deployment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97700" y="1524000"/>
            <a:ext cx="80772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Complete end-to-end workflow from data generation to model deployment architecture and design decisions.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97700" y="3276600"/>
            <a:ext cx="80772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Hyperparameter tuning outcomes comparing Logistic Regression and Random Forest performance optimization approaches.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97700" y="5384800"/>
            <a:ext cx="80772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ROC curves and confusion matrix interpretation demonstrating excellent classification performance with AUC 0.97.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997700" y="7493000"/>
            <a:ext cx="80772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Bias analysis, fairness considerations, and deployment strategy for real-world machine learning systems.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2000" r="32000"/>
          <a:stretch>
            <a:fillRect/>
          </a:stretch>
        </p:blipFill>
        <p:spPr>
          <a:xfrm>
            <a:off x="10147300" y="0"/>
            <a:ext cx="6083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219200"/>
            <a:ext cx="8394700" cy="736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55700" y="1219200"/>
            <a:ext cx="12700" cy="7366000"/>
          </a:xfrm>
          <a:prstGeom prst="roundRect">
            <a:avLst>
              <a:gd name="adj" fmla="val 50000"/>
            </a:avLst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1219200"/>
            <a:ext cx="8394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76300" y="12192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422400" y="14351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2413000" y="1282700"/>
            <a:ext cx="6845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6300" y="2463800"/>
            <a:ext cx="8394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24638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422400" y="26797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2413000" y="2540000"/>
            <a:ext cx="6845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3708400"/>
            <a:ext cx="83947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76300" y="37084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422400" y="39243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2413000" y="3784600"/>
            <a:ext cx="68453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76300" y="5257800"/>
            <a:ext cx="8394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876300" y="52578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1422400" y="54610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2413000" y="5321300"/>
            <a:ext cx="6845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876300" y="6502400"/>
            <a:ext cx="8394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876300" y="65024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1422400" y="67056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2413000" y="6565900"/>
            <a:ext cx="6845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876300" y="7747000"/>
            <a:ext cx="8394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876300" y="7747000"/>
            <a:ext cx="558800" cy="431800"/>
          </a:xfrm>
          <a:prstGeom prst="roundRect">
            <a:avLst>
              <a:gd name="adj" fmla="val 1176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1422400" y="79502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2413000" y="7810500"/>
            <a:ext cx="6845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76300" y="533400"/>
            <a:ext cx="8394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100" b="1">
                <a:solidFill>
                  <a:srgbClr val="FFFFFF"/>
                </a:solidFill>
                <a:latin typeface="&quot;Yeseva One&quot;"/>
              </a:rPr>
              <a:t>ML Pipeline Architecture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2413000" y="12827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Data Generation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2413000" y="25400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Train/Val/Test Split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2413000" y="37846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Preprocessing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2413000" y="53213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Model Training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2413000" y="65659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Hyperparameter Tuning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2413000" y="7810500"/>
            <a:ext cx="6845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Final Evaluation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2413000" y="1778000"/>
            <a:ext cx="6845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1200 samples, 8 numerical + 2 categorical features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2413000" y="3022600"/>
            <a:ext cx="6845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60/20/20 ratio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2413000" y="4267200"/>
            <a:ext cx="68453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StandardScaler, OneHotEncoder, missing value imputation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2413000" y="5816600"/>
            <a:ext cx="6845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Logistic Regression vs Random Forest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2413000" y="7061200"/>
            <a:ext cx="6845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GridSearchCV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2413000" y="8305800"/>
            <a:ext cx="6845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&quot;Yeseva One&quot;"/>
              </a:rPr>
              <a:t>Performance metrics and model comparison</a:t>
            </a:r>
            <a:endParaRPr lang="en-US" sz="1100"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rcRect t="6000" b="6000"/>
          <a:stretch>
            <a:fillRect/>
          </a:stretch>
        </p:blipFill>
        <p:spPr>
          <a:xfrm>
            <a:off x="1054100" y="1346200"/>
            <a:ext cx="215900" cy="190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1016000" y="2590800"/>
            <a:ext cx="279400" cy="1905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"/>
          <a:srcRect t="11000" b="11000"/>
          <a:stretch>
            <a:fillRect/>
          </a:stretch>
        </p:blipFill>
        <p:spPr>
          <a:xfrm>
            <a:off x="1028700" y="3835400"/>
            <a:ext cx="241300" cy="1905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7"/>
          <a:srcRect t="11000" b="11000"/>
          <a:stretch>
            <a:fillRect/>
          </a:stretch>
        </p:blipFill>
        <p:spPr>
          <a:xfrm>
            <a:off x="1028700" y="5372100"/>
            <a:ext cx="241300" cy="1905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rcRect t="11000" b="11000"/>
          <a:stretch>
            <a:fillRect/>
          </a:stretch>
        </p:blipFill>
        <p:spPr>
          <a:xfrm>
            <a:off x="1028700" y="6616700"/>
            <a:ext cx="241300" cy="1905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9"/>
          <a:srcRect t="11000" b="11000"/>
          <a:stretch>
            <a:fillRect/>
          </a:stretch>
        </p:blipFill>
        <p:spPr>
          <a:xfrm>
            <a:off x="1028700" y="7874000"/>
            <a:ext cx="241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58900"/>
            <a:ext cx="14490700" cy="876300"/>
          </a:xfrm>
          <a:prstGeom prst="roundRect">
            <a:avLst>
              <a:gd name="adj" fmla="val 869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358900"/>
            <a:ext cx="3378200" cy="876300"/>
          </a:xfrm>
          <a:prstGeom prst="roundRect">
            <a:avLst>
              <a:gd name="adj" fmla="val 869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572000" y="1358900"/>
            <a:ext cx="3378200" cy="876300"/>
          </a:xfrm>
          <a:prstGeom prst="roundRect">
            <a:avLst>
              <a:gd name="adj" fmla="val 869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280400" y="1358900"/>
            <a:ext cx="3378200" cy="876300"/>
          </a:xfrm>
          <a:prstGeom prst="roundRect">
            <a:avLst>
              <a:gd name="adj" fmla="val 869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976100" y="1358900"/>
            <a:ext cx="3378200" cy="876300"/>
          </a:xfrm>
          <a:prstGeom prst="roundRect">
            <a:avLst>
              <a:gd name="adj" fmla="val 869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2387600"/>
            <a:ext cx="14490700" cy="613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76300" y="2387600"/>
            <a:ext cx="4660900" cy="6134100"/>
          </a:xfrm>
          <a:prstGeom prst="roundRect">
            <a:avLst>
              <a:gd name="adj" fmla="val 2724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30300" y="3149600"/>
            <a:ext cx="12700" cy="1612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5791200" y="2387600"/>
            <a:ext cx="4660900" cy="6134100"/>
          </a:xfrm>
          <a:prstGeom prst="roundRect">
            <a:avLst>
              <a:gd name="adj" fmla="val 2724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045200" y="3543300"/>
            <a:ext cx="12700" cy="1295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0706100" y="2387600"/>
            <a:ext cx="4660900" cy="6134100"/>
          </a:xfrm>
          <a:prstGeom prst="roundRect">
            <a:avLst>
              <a:gd name="adj" fmla="val 2724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0960100" y="3149600"/>
            <a:ext cx="12700" cy="16129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76300" y="5969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400" b="1">
                <a:solidFill>
                  <a:srgbClr val="FFFFFF"/>
                </a:solidFill>
                <a:latin typeface="&quot;Yeseva One&quot;"/>
              </a:rPr>
              <a:t>Data Generation &amp; Preprocessing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1917700"/>
            <a:ext cx="33782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FFFFFF"/>
                </a:solidFill>
                <a:latin typeface="&quot;Yeseva One&quot;"/>
              </a:rPr>
              <a:t>Total Samples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72000" y="1917700"/>
            <a:ext cx="33782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FFFFFF"/>
                </a:solidFill>
                <a:latin typeface="&quot;Yeseva One&quot;"/>
              </a:rPr>
              <a:t>Features (Num+Cat)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280400" y="1917700"/>
            <a:ext cx="33782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FFFFFF"/>
                </a:solidFill>
                <a:latin typeface="&quot;Yeseva One&quot;"/>
              </a:rPr>
              <a:t>Class Distribution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976100" y="1917700"/>
            <a:ext cx="33782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FFFFFF"/>
                </a:solidFill>
                <a:latin typeface="&quot;Yeseva One&quot;"/>
              </a:rPr>
              <a:t>Missing Values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2603500"/>
            <a:ext cx="41529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FFFF"/>
                </a:solidFill>
                <a:latin typeface="&quot;Yeseva One&quot;"/>
              </a:rPr>
              <a:t>Data Generation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045200" y="2603500"/>
            <a:ext cx="41529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FFFF"/>
                </a:solidFill>
                <a:latin typeface="&quot;Yeseva One&quot;"/>
              </a:rPr>
              <a:t>Preprocessing Pipeline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960100" y="2603500"/>
            <a:ext cx="41529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FFFF"/>
                </a:solidFill>
                <a:latin typeface="&quot;Yeseva One&quot;"/>
              </a:rPr>
              <a:t>Data Splitting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" y="13716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4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1200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572000" y="13716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4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8+2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280400" y="13716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4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60/40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976100" y="13716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4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3.3%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384300" y="3149600"/>
            <a:ext cx="3898900" cy="161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Simulated realistic dataset using sklearn make_classification with controlled complexity and class imbalance.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384300" y="4927600"/>
            <a:ext cx="3898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8 numerical features with 5 informative dimensions.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384300" y="5765800"/>
            <a:ext cx="3898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2 categorical features created through binning operations.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384300" y="6604000"/>
            <a:ext cx="3898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Introduced missing values across 3 columns randomly.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299200" y="3543300"/>
            <a:ext cx="38989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Robust preprocessing handling both numerical and categorical data with missing value imputation strategies.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299200" y="4991100"/>
            <a:ext cx="38989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Median imputation and standard scaling for numericals.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299200" y="6159500"/>
            <a:ext cx="38989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Most frequent imputation and one-hot encoding categoricals.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299200" y="7315200"/>
            <a:ext cx="38989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Column transformer for unified preprocessing workflow.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1214100" y="3149600"/>
            <a:ext cx="3898900" cy="161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Stratified splits ensuring balanced representation across train, validation, and test sets for reliable evaluation.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1214100" y="4927600"/>
            <a:ext cx="3898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60% training data for initial model fitting.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1214100" y="5765800"/>
            <a:ext cx="38989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20% validation for hyperparameter tuning decisions.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1214100" y="6921500"/>
            <a:ext cx="3898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&quot;Yeseva One&quot;"/>
              </a:rPr>
              <a:t>20% test set for final unbiased evaluation.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03300" y="4991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03300" y="5829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1003300" y="66675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5918200" y="5067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5918200" y="62230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5918200" y="73787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10833100" y="4991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10833100" y="5829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0833100" y="69977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81100" y="1917700"/>
            <a:ext cx="8077200" cy="5854700"/>
          </a:xfrm>
          <a:prstGeom prst="roundRect">
            <a:avLst>
              <a:gd name="adj" fmla="val 2386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893300" y="1511300"/>
            <a:ext cx="5181600" cy="668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9893300" y="1511300"/>
            <a:ext cx="2463800" cy="6680200"/>
          </a:xfrm>
          <a:prstGeom prst="roundRect">
            <a:avLst>
              <a:gd name="adj" fmla="val 567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756900" y="17526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2611100" y="1511300"/>
            <a:ext cx="2463800" cy="6680200"/>
          </a:xfrm>
          <a:prstGeom prst="roundRect">
            <a:avLst>
              <a:gd name="adj" fmla="val 567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3474700" y="17526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1917700"/>
            <a:ext cx="7785100" cy="585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76300" y="6604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800" b="1">
                <a:solidFill>
                  <a:srgbClr val="FFFFFF"/>
                </a:solidFill>
                <a:latin typeface="&quot;Yeseva One&quot;"/>
              </a:rPr>
              <a:t>GridSearch Hyperparameter Tuning Results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0147300" y="2730500"/>
            <a:ext cx="19558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Logistic Regression Tuning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865100" y="2730500"/>
            <a:ext cx="19558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Random Forest Tuning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147300" y="3975100"/>
            <a:ext cx="1955800" cy="396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GridSearch over regularization parameter C=[0.1, 1.0, 3.0]. Best C=1.0 achieved validation AUC=0.92 with balanced regularization.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2865100" y="3975100"/>
            <a:ext cx="1955800" cy="360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Optimized n_estimators=[100, 200] and max_depth=[None, 6, 10]. Best: 200 trees, max_depth=None achieved AUC=0.95.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10998200" y="1993900"/>
            <a:ext cx="241300" cy="22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 l="3000" r="3000"/>
          <a:stretch>
            <a:fillRect/>
          </a:stretch>
        </p:blipFill>
        <p:spPr>
          <a:xfrm>
            <a:off x="13728700" y="1993900"/>
            <a:ext cx="2159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2700"/>
            <a:ext cx="6870700" cy="91567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6870700" y="0"/>
            <a:ext cx="937895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2650" y="-127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900" b="1" dirty="0">
                <a:solidFill>
                  <a:srgbClr val="FFFFFF"/>
                </a:solidFill>
                <a:latin typeface="&quot;Yeseva One&quot;"/>
              </a:rPr>
              <a:t>Model Evaluation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6997700" y="16256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&quot;Yeseva One&quot;"/>
              </a:rPr>
              <a:t>Performance Metrics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997700" y="48133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&quot;Yeseva One&quot;"/>
              </a:rPr>
              <a:t>Summary Statistics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251700" y="23622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True Positives: 132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251700" y="29464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False Positives: 9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251700" y="35433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False Negatives: 11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251700" y="41275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True Negatives: 88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7251700" y="55499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Overall accuracy: 91.7%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51700" y="61341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Precision: 90.8%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251700" y="6731000"/>
            <a:ext cx="78232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Recall: 92.3%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251700" y="7315200"/>
            <a:ext cx="78232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The high AUC of 0.97 indicates excellent discriminative ability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870700" y="2438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870700" y="3022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870700" y="3619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870700" y="4203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870700" y="562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870700" y="6210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8707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8707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32E99F5-8B4B-92A1-BBB2-E088FEAC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1504950"/>
            <a:ext cx="6864350" cy="3619500"/>
          </a:xfrm>
          <a:prstGeom prst="rect">
            <a:avLst/>
          </a:prstGeom>
          <a:noFill/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F5DE947-63BF-105B-4BD2-58F12CAD9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5124450"/>
            <a:ext cx="686435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73200"/>
            <a:ext cx="14490700" cy="176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473200"/>
            <a:ext cx="14490700" cy="1765300"/>
          </a:xfrm>
          <a:prstGeom prst="roundRect">
            <a:avLst>
              <a:gd name="adj" fmla="val 7913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3416300"/>
            <a:ext cx="14490700" cy="318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3416300"/>
            <a:ext cx="7112000" cy="3187700"/>
          </a:xfrm>
          <a:prstGeom prst="roundRect">
            <a:avLst>
              <a:gd name="adj" fmla="val 4382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242300" y="3416300"/>
            <a:ext cx="7112000" cy="3187700"/>
          </a:xfrm>
          <a:prstGeom prst="roundRect">
            <a:avLst>
              <a:gd name="adj" fmla="val 4382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6781800"/>
            <a:ext cx="144907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76300" y="6781800"/>
            <a:ext cx="4660900" cy="1689100"/>
          </a:xfrm>
          <a:prstGeom prst="roundRect">
            <a:avLst>
              <a:gd name="adj" fmla="val 827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5791200" y="6781800"/>
            <a:ext cx="4660900" cy="1689100"/>
          </a:xfrm>
          <a:prstGeom prst="roundRect">
            <a:avLst>
              <a:gd name="adj" fmla="val 827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706100" y="6781800"/>
            <a:ext cx="4660900" cy="1689100"/>
          </a:xfrm>
          <a:prstGeom prst="roundRect">
            <a:avLst>
              <a:gd name="adj" fmla="val 827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76300" y="6477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700" b="1">
                <a:solidFill>
                  <a:srgbClr val="FFFFFF"/>
                </a:solidFill>
                <a:latin typeface="&quot;Yeseva One&quot;"/>
              </a:rPr>
              <a:t>Model Performance Analysis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1714500"/>
            <a:ext cx="13982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Exceptional Performance Metrics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3657600"/>
            <a:ext cx="5676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Confusion Matrix Insights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496300" y="3657600"/>
            <a:ext cx="66040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ROC Curve Analysis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30300" y="7023100"/>
            <a:ext cx="4152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Precision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45200" y="7023100"/>
            <a:ext cx="4152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Recall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960100" y="7023100"/>
            <a:ext cx="4152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&quot;Yeseva One&quot;"/>
              </a:rPr>
              <a:t>F1-Score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2311400"/>
            <a:ext cx="139827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Random Forest achieved outstanding results on test set with AUC=0.97, accuracy=91.7%, demonstrating excellent generalization and discriminative capability.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384300" y="4178300"/>
            <a:ext cx="5435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Low false positive rate (9/240 = 3.75%)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84300" y="4737100"/>
            <a:ext cx="5435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Low false negative rate (11/240 = 4.58%)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384300" y="5283200"/>
            <a:ext cx="5435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Balanced performance across both classes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50300" y="4178300"/>
            <a:ext cx="63627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AUC=0.97 indicates near-perfect classification ability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50300" y="5080000"/>
            <a:ext cx="636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Curve hugs top-left corner efficiently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50300" y="5638800"/>
            <a:ext cx="63627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Excellent trade-off between sensitivity and specificity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30300" y="7543800"/>
            <a:ext cx="41529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90.8% - High confidence in positive predictions.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045200" y="7543800"/>
            <a:ext cx="41529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92.3% - Excellent at finding true positives.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960100" y="7543800"/>
            <a:ext cx="41529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91.5% - Well-balanced precision-recall trade-off.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03300" y="42418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48006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03300" y="53594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69300" y="42418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369300" y="51562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369300" y="57150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28800"/>
            <a:ext cx="144907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828800"/>
            <a:ext cx="14490700" cy="1866900"/>
          </a:xfrm>
          <a:prstGeom prst="roundRect">
            <a:avLst>
              <a:gd name="adj" fmla="val 8163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3873500"/>
            <a:ext cx="14490700" cy="429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3873500"/>
            <a:ext cx="4660900" cy="4292600"/>
          </a:xfrm>
          <a:prstGeom prst="roundRect">
            <a:avLst>
              <a:gd name="adj" fmla="val 355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8321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5791200" y="3873500"/>
            <a:ext cx="4660900" cy="4292600"/>
          </a:xfrm>
          <a:prstGeom prst="roundRect">
            <a:avLst>
              <a:gd name="adj" fmla="val 355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7470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706100" y="3873500"/>
            <a:ext cx="4660900" cy="4292600"/>
          </a:xfrm>
          <a:prstGeom prst="roundRect">
            <a:avLst>
              <a:gd name="adj" fmla="val 3550"/>
            </a:avLst>
          </a:prstGeom>
          <a:solidFill>
            <a:srgbClr val="5BB19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6619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76300" y="9525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&quot;Yeseva One&quot;"/>
              </a:rPr>
              <a:t>Bias Analysis &amp; Fairness Considerations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20828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&quot;Yeseva One&quot;"/>
              </a:rPr>
              <a:t>Ethical ML Framework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51435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&quot;Yeseva One&quot;"/>
              </a:rPr>
              <a:t>Bias Detection Methods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51435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&quot;Yeseva One&quot;"/>
              </a:rPr>
              <a:t>Mitigation Strategies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51435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&quot;Yeseva One&quot;"/>
              </a:rPr>
              <a:t>Group Fairness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2705100"/>
            <a:ext cx="13982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Comprehensive approach to identifying, measuring, and mitigating algorithmic bias while ensuring fairness across demographic groups and maintaining model performance integrity.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5689600"/>
            <a:ext cx="41529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Analyze performance metrics across subgroups, use fairness metrics like demographic parity and equalized odds, implement statistical parity tests.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45200" y="5689600"/>
            <a:ext cx="4152900" cy="223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Pre-processing data reweighting, in-processing fairness constraints, post-processing threshold optimization, adversarial debiasing techniques.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60100" y="5689600"/>
            <a:ext cx="4152900" cy="223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Ensure equal treatment and outcomes across protected groups, monitor disparate impact ratios, implement fairness-aware machine learning algorithms.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86100" y="4381500"/>
            <a:ext cx="2413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0" y="4381500"/>
            <a:ext cx="241300" cy="241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12877800" y="43815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85900"/>
            <a:ext cx="14490700" cy="698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55700" y="1485900"/>
            <a:ext cx="12700" cy="6985000"/>
          </a:xfrm>
          <a:prstGeom prst="roundRect">
            <a:avLst>
              <a:gd name="adj" fmla="val 50000"/>
            </a:avLst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485900"/>
            <a:ext cx="14490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1485900"/>
            <a:ext cx="558800" cy="533400"/>
          </a:xfrm>
          <a:prstGeom prst="roundRect">
            <a:avLst>
              <a:gd name="adj" fmla="val 1190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422400" y="17399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413000" y="1562100"/>
            <a:ext cx="129413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76300" y="3352800"/>
            <a:ext cx="14490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6300" y="3352800"/>
            <a:ext cx="558800" cy="533400"/>
          </a:xfrm>
          <a:prstGeom prst="roundRect">
            <a:avLst>
              <a:gd name="adj" fmla="val 1190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422400" y="36068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2413000" y="3429000"/>
            <a:ext cx="129413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76300" y="5219700"/>
            <a:ext cx="14490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5219700"/>
            <a:ext cx="558800" cy="533400"/>
          </a:xfrm>
          <a:prstGeom prst="roundRect">
            <a:avLst>
              <a:gd name="adj" fmla="val 1190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422400" y="54737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2413000" y="5308600"/>
            <a:ext cx="129413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76300" y="7086600"/>
            <a:ext cx="14490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76300" y="7086600"/>
            <a:ext cx="558800" cy="533400"/>
          </a:xfrm>
          <a:prstGeom prst="roundRect">
            <a:avLst>
              <a:gd name="adj" fmla="val 11904"/>
            </a:avLst>
          </a:prstGeom>
          <a:solidFill>
            <a:srgbClr val="609C8F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422400" y="7353300"/>
            <a:ext cx="749300" cy="12700"/>
          </a:xfrm>
          <a:prstGeom prst="rect">
            <a:avLst/>
          </a:prstGeom>
          <a:solidFill>
            <a:srgbClr val="6BD1B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2413000" y="7175500"/>
            <a:ext cx="129413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76300" y="6477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700" b="1">
                <a:solidFill>
                  <a:srgbClr val="FFFFFF"/>
                </a:solidFill>
                <a:latin typeface="&quot;Yeseva One&quot;"/>
              </a:rPr>
              <a:t>Deployment Strategy &amp; Considerations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413000" y="15621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REST API Endpoint Design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413000" y="34290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Performance Monitoring System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413000" y="53086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Model Versioning &amp; A/B Testing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2413000" y="71755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&quot;Yeseva One&quot;"/>
              </a:rPr>
              <a:t>Data Pipeline &amp; Logging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2413000" y="21590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Implement scalable REST service with input validation, error handling, rate limiting, and health checks for reliable production deployment.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2413000" y="40259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Continuous monitoring of latency, throughput, accuracy metrics, and concept drift detection with automated alerting mechanisms.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2413000" y="59055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Implement model versioning pipeline with A/B testing capabilities for safe model updates and rollback strategies.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2413000" y="77724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&quot;Yeseva One&quot;"/>
              </a:rPr>
              <a:t>Robust data validation, input/output logging for debugging, and comprehensive audit trails for compliance and performance analysis.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 t="3000" b="3000"/>
          <a:stretch>
            <a:fillRect/>
          </a:stretch>
        </p:blipFill>
        <p:spPr>
          <a:xfrm>
            <a:off x="1028700" y="1638300"/>
            <a:ext cx="241300" cy="2286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1028700" y="3505200"/>
            <a:ext cx="241300" cy="228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rcRect l="3000" r="3000"/>
          <a:stretch>
            <a:fillRect/>
          </a:stretch>
        </p:blipFill>
        <p:spPr>
          <a:xfrm>
            <a:off x="1054100" y="5372100"/>
            <a:ext cx="215900" cy="228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rcRect l="3000" r="3000"/>
          <a:stretch>
            <a:fillRect/>
          </a:stretch>
        </p:blipFill>
        <p:spPr>
          <a:xfrm>
            <a:off x="1054100" y="7239000"/>
            <a:ext cx="2159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22479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FFFFFF"/>
                </a:solidFill>
                <a:latin typeface="&quot;Yeseva One&quot;"/>
              </a:rPr>
              <a:t>"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3276600"/>
            <a:ext cx="14490700" cy="118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&quot;Yeseva One&quot;"/>
              </a:rPr>
              <a:t>The best model is not just accurate, but also fair, interpretable, and deployable in the real world.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76300" y="47371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&quot;Yeseva One&quot;"/>
              </a:rPr>
              <a:t>— ML Engineering Principles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5397500"/>
            <a:ext cx="14490700" cy="148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&quot;Yeseva One&quot;"/>
              </a:rPr>
              <a:t>Our end-to-end pipeline achieved exceptional performance with AUC=0.97 while maintaining focus on ethical considerations, bias detection, and practical deployment strategies. Key takeaways: Random Forest outperformed Logistic Regression, proper preprocessing and validation split are crucial, and deployment requires comprehensive monitoring and fairness auditing for responsible AI implementation.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816</Words>
  <Application>Microsoft Macintosh PowerPoint</Application>
  <PresentationFormat>Custom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"Yeseva One"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kendrick.robinson-W218180479</cp:lastModifiedBy>
  <cp:revision>2</cp:revision>
  <dcterms:created xsi:type="dcterms:W3CDTF">2006-08-16T00:00:00Z</dcterms:created>
  <dcterms:modified xsi:type="dcterms:W3CDTF">2025-11-30T18:45:33Z</dcterms:modified>
</cp:coreProperties>
</file>